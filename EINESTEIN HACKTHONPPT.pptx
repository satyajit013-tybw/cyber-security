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3"/>
  </p:notesMasterIdLst>
  <p:sldIdLst>
    <p:sldId id="291" r:id="rId2"/>
    <p:sldId id="281" r:id="rId3"/>
    <p:sldId id="298" r:id="rId4"/>
    <p:sldId id="290" r:id="rId5"/>
    <p:sldId id="293" r:id="rId6"/>
    <p:sldId id="302" r:id="rId7"/>
    <p:sldId id="294" r:id="rId8"/>
    <p:sldId id="299" r:id="rId9"/>
    <p:sldId id="300" r:id="rId10"/>
    <p:sldId id="301" r:id="rId11"/>
    <p:sldId id="296" r:id="rId12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-792" y="-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2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pPr/>
              <a:t>2/25/2026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pPr/>
              <a:t>2/25/2026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pPr/>
              <a:t>2/25/2026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pPr/>
              <a:t>2/25/2026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7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pPr/>
              <a:t>2/25/2026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pPr/>
              <a:t>2/25/2026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5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5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7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7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7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=""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=""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656780" y="851525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7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393372" y="81378"/>
            <a:ext cx="7601437" cy="877077"/>
          </a:xfrm>
        </p:spPr>
        <p:txBody>
          <a:bodyPr/>
          <a:lstStyle/>
          <a:p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ARTEMIS </a:t>
            </a:r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19316" y="2076450"/>
            <a:ext cx="9843229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No –02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Title-Smart </a:t>
            </a:r>
            <a:r>
              <a:rPr lang="en-US" sz="24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defence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through innovation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Name – ALPHA SQUAD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7" y="81380"/>
            <a:ext cx="1095495" cy="1028967"/>
          </a:xfrm>
          <a:prstGeom prst="rect">
            <a:avLst/>
          </a:prstGeom>
        </p:spPr>
      </p:pic>
      <p:pic>
        <p:nvPicPr>
          <p:cNvPr id="14" name="Picture 13" descr="EFusion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3059" y="203047"/>
            <a:ext cx="1303845" cy="11125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3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286000" y="0"/>
            <a:ext cx="6451600" cy="954578"/>
          </a:xfrm>
        </p:spPr>
        <p:txBody>
          <a:bodyPr/>
          <a:lstStyle/>
          <a:p>
            <a:pPr eaLnBrk="1" hangingPunct="1"/>
            <a:r>
              <a:rPr lang="en-US" sz="3600" b="1" dirty="0" smtClean="0"/>
              <a:t>PROBLEM STATEMENT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33829" y="1465944"/>
            <a:ext cx="11858171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q"/>
            </a:pPr>
            <a:r>
              <a:rPr lang="en-US" sz="2000" b="1" dirty="0"/>
              <a:t>Problem Overview</a:t>
            </a:r>
          </a:p>
          <a:p>
            <a:r>
              <a:rPr lang="en-US" sz="2000" dirty="0"/>
              <a:t>Users are increasingly targeted by sophisticated phishing campaigns, malicious URLs, and </a:t>
            </a:r>
            <a:r>
              <a:rPr lang="en-US" sz="2000" dirty="0" err="1"/>
              <a:t>weaponized</a:t>
            </a:r>
            <a:r>
              <a:rPr lang="en-US" sz="2000" dirty="0"/>
              <a:t> QR codes. There is a lack of simple, real-time tools that analyze and sandbox threats before user interaction.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2000" b="1" dirty="0"/>
              <a:t>Who Faces This?</a:t>
            </a:r>
          </a:p>
          <a:p>
            <a:r>
              <a:rPr lang="en-US" sz="2000" dirty="0"/>
              <a:t>Everyday internet users</a:t>
            </a:r>
          </a:p>
          <a:p>
            <a:r>
              <a:rPr lang="en-US" sz="2000" dirty="0"/>
              <a:t>Corporate employees</a:t>
            </a:r>
          </a:p>
          <a:p>
            <a:r>
              <a:rPr lang="en-US" sz="2000" dirty="0"/>
              <a:t>Organizations without strong endpoint security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2000" b="1" dirty="0"/>
              <a:t>Current Challenges</a:t>
            </a:r>
          </a:p>
          <a:p>
            <a:r>
              <a:rPr lang="en-US" sz="2000" dirty="0"/>
              <a:t>Security tools are too complex for non-technical users</a:t>
            </a:r>
          </a:p>
          <a:p>
            <a:r>
              <a:rPr lang="en-US" sz="2000" dirty="0"/>
              <a:t>QR codes completely hide destination URLs</a:t>
            </a:r>
          </a:p>
          <a:p>
            <a:r>
              <a:rPr lang="en-US" sz="2000" dirty="0"/>
              <a:t>Traditional blacklists fail against zero-day phishing</a:t>
            </a:r>
          </a:p>
          <a:p>
            <a:pPr marL="342900" indent="-342900">
              <a:buFont typeface="Wingdings" pitchFamily="2" charset="2"/>
              <a:buChar char="q"/>
            </a:pPr>
            <a:r>
              <a:rPr lang="en-US" sz="2000" b="1" dirty="0"/>
              <a:t>Real-World Relevance</a:t>
            </a:r>
          </a:p>
          <a:p>
            <a:r>
              <a:rPr lang="en-US" sz="2000" dirty="0"/>
              <a:t>Phishing, identity theft, and financial fraud are at an all-time high, causing billions in global losses annually.</a:t>
            </a:r>
          </a:p>
          <a:p>
            <a:endParaRPr lang="en-US" sz="2000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2" name="Picture 11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7" y="81380"/>
            <a:ext cx="1095495" cy="10289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pic>
        <p:nvPicPr>
          <p:cNvPr id="14" name="Picture 13" descr="EFusio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5863" y="203044"/>
            <a:ext cx="1271040" cy="10845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3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267879" y="0"/>
            <a:ext cx="7827984" cy="954578"/>
          </a:xfrm>
        </p:spPr>
        <p:txBody>
          <a:bodyPr/>
          <a:lstStyle/>
          <a:p>
            <a:pPr eaLnBrk="1" hangingPunct="1"/>
            <a:r>
              <a:rPr lang="en-US" sz="3600" b="1" dirty="0" smtClean="0"/>
              <a:t>PROPOSED SOLUTION </a:t>
            </a:r>
            <a:br>
              <a:rPr lang="en-US" sz="3600" b="1" dirty="0" smtClean="0"/>
            </a:br>
            <a:r>
              <a:rPr lang="en-US" sz="3600" b="1" dirty="0" smtClean="0"/>
              <a:t>(YOUR IDEA)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2" y="1287624"/>
            <a:ext cx="12191999" cy="47397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742950" lvl="1" indent="-285750">
              <a:buFont typeface="Wingdings" pitchFamily="2" charset="2"/>
              <a:buChar char="q"/>
            </a:pPr>
            <a:r>
              <a:rPr lang="en-US" b="1" dirty="0" err="1"/>
              <a:t>SentinelShield</a:t>
            </a:r>
            <a:endParaRPr lang="en-US" b="1" dirty="0"/>
          </a:p>
          <a:p>
            <a:pPr lvl="1"/>
            <a:r>
              <a:rPr lang="en-US" dirty="0"/>
              <a:t>An AI-powered Threat Detection system acting as a secure gateway. It provides an isolated </a:t>
            </a:r>
            <a:r>
              <a:rPr lang="en-US" b="1" dirty="0"/>
              <a:t>Safe Mode sandbox</a:t>
            </a:r>
            <a:r>
              <a:rPr lang="en-US" dirty="0"/>
              <a:t> to analyze URLs, text payloads, and QR codes before execution.</a:t>
            </a:r>
          </a:p>
          <a:p>
            <a:pPr marL="742950" lvl="1" indent="-285750">
              <a:buFont typeface="Wingdings" pitchFamily="2" charset="2"/>
              <a:buChar char="q"/>
            </a:pPr>
            <a:r>
              <a:rPr lang="en-US" b="1" dirty="0"/>
              <a:t>How It Works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User scans QR or enters suspicious link/text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Frontend decodes and sends data to API layer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AI engine (Google Gemini + NLP) evaluates phishing patterns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System generates a </a:t>
            </a:r>
            <a:r>
              <a:rPr lang="en-US" b="1" dirty="0" err="1"/>
              <a:t>riskScore</a:t>
            </a:r>
            <a:r>
              <a:rPr lang="en-US" dirty="0"/>
              <a:t> with explanation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Severe threats are blocked, logged, and admins alerted</a:t>
            </a:r>
          </a:p>
          <a:p>
            <a:pPr marL="742950" lvl="1" indent="-285750">
              <a:buFont typeface="Wingdings" pitchFamily="2" charset="2"/>
              <a:buChar char="q"/>
            </a:pPr>
            <a:r>
              <a:rPr lang="en-US" b="1" dirty="0"/>
              <a:t>Key Features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Secure QR Code Decoding &amp; URL Reveal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Live Telemetry Dashboard with Safety Scores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AI Threat Engine for zero-day phishing detection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Threat Intelligence Command Center (Admin View)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Automated PDF/CSV Security Reports</a:t>
            </a:r>
          </a:p>
          <a:p>
            <a:endParaRPr lang="en-US" sz="32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2" name="Picture 11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7" y="81380"/>
            <a:ext cx="1095495" cy="10289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pic>
        <p:nvPicPr>
          <p:cNvPr id="14" name="Picture 13" descr="EFusio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5863" y="203044"/>
            <a:ext cx="1271040" cy="10845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35159" y="-32657"/>
            <a:ext cx="671182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84355" y="1222312"/>
            <a:ext cx="9385300" cy="2862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US" sz="2000" b="1" dirty="0" smtClean="0">
                <a:latin typeface="Arial" pitchFamily="34" charset="0"/>
                <a:cs typeface="Arial" pitchFamily="34" charset="0"/>
              </a:rPr>
              <a:t>TECH STACK</a:t>
            </a:r>
          </a:p>
          <a:p>
            <a:pPr marL="342900" indent="-342900" algn="just">
              <a:buFont typeface="Wingdings" pitchFamily="2" charset="2"/>
              <a:buChar char="§"/>
            </a:pP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FRONTEND :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Next.js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16.1 (App Router),React 19, Radix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UI,Lucide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React,Three.js,Tailwind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CSS, Framer Motion,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Recharts</a:t>
            </a: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Wingdings" pitchFamily="2" charset="2"/>
              <a:buChar char="§"/>
            </a:pP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BACKEND 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: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Next.js API Routes, Node.js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runtime</a:t>
            </a:r>
          </a:p>
          <a:p>
            <a:pPr marL="342900" indent="-342900" algn="just">
              <a:buFont typeface="Wingdings" pitchFamily="2" charset="2"/>
              <a:buChar char="§"/>
            </a:pP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DATABASE </a:t>
            </a:r>
            <a:r>
              <a:rPr lang="en-US" sz="2000" b="1" dirty="0">
                <a:latin typeface="Arial" pitchFamily="34" charset="0"/>
                <a:cs typeface="Arial" pitchFamily="34" charset="0"/>
              </a:rPr>
              <a:t>: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MongoDB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Atlas with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Mongoose</a:t>
            </a:r>
          </a:p>
          <a:p>
            <a:pPr marL="342900" indent="-342900" algn="just">
              <a:buFont typeface="Wingdings" pitchFamily="2" charset="2"/>
              <a:buChar char="§"/>
            </a:pPr>
            <a:r>
              <a:rPr lang="it-IT" sz="2000" b="1" dirty="0">
                <a:latin typeface="Arial" pitchFamily="34" charset="0"/>
                <a:cs typeface="Arial" pitchFamily="34" charset="0"/>
              </a:rPr>
              <a:t>AI &amp; ML: </a:t>
            </a:r>
            <a:r>
              <a:rPr lang="it-IT" sz="2000" dirty="0">
                <a:latin typeface="Arial" pitchFamily="34" charset="0"/>
                <a:cs typeface="Arial" pitchFamily="34" charset="0"/>
              </a:rPr>
              <a:t>Google Gemini API, Natural v8.1 (NLP</a:t>
            </a:r>
            <a:r>
              <a:rPr lang="it-IT" sz="2000" dirty="0" smtClean="0">
                <a:latin typeface="Arial" pitchFamily="34" charset="0"/>
                <a:cs typeface="Arial" pitchFamily="34" charset="0"/>
              </a:rPr>
              <a:t>)</a:t>
            </a:r>
          </a:p>
          <a:p>
            <a:pPr marL="342900" indent="-342900" algn="just">
              <a:buFont typeface="Wingdings" pitchFamily="2" charset="2"/>
              <a:buChar char="§"/>
            </a:pPr>
            <a:r>
              <a:rPr lang="it-IT" sz="2000" b="1" dirty="0">
                <a:latin typeface="Arial" pitchFamily="34" charset="0"/>
                <a:cs typeface="Arial" pitchFamily="34" charset="0"/>
              </a:rPr>
              <a:t>SECURITY :  </a:t>
            </a:r>
            <a:r>
              <a:rPr lang="it-IT" sz="2000" dirty="0">
                <a:latin typeface="Arial" pitchFamily="34" charset="0"/>
                <a:cs typeface="Arial" pitchFamily="34" charset="0"/>
              </a:rPr>
              <a:t>Bcryptjs, JWT, Speakeasy (MFA), Zod</a:t>
            </a: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algn="just"/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IN" sz="2000" dirty="0" smtClean="0"/>
              <a:t> </a:t>
            </a:r>
            <a:r>
              <a:rPr lang="en-IN" sz="2000" b="1" i="1" dirty="0"/>
              <a:t>Methodology Flow </a:t>
            </a:r>
            <a:r>
              <a:rPr lang="en-IN" sz="2000" b="1" i="1" dirty="0" smtClean="0"/>
              <a:t>Chart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-</a:t>
            </a:r>
            <a:endParaRPr lang="en-IN" sz="2000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9" name="Picture 8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7" y="81380"/>
            <a:ext cx="1095495" cy="10289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pic>
        <p:nvPicPr>
          <p:cNvPr id="13" name="Picture 12" descr="EFusio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2405" y="203047"/>
            <a:ext cx="1194499" cy="1019267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4743" y="3581514"/>
            <a:ext cx="8577944" cy="277484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59238" y="79310"/>
            <a:ext cx="7513169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2" y="1634637"/>
            <a:ext cx="9385300" cy="4832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800" b="1" dirty="0"/>
              <a:t>Feasibility</a:t>
            </a:r>
          </a:p>
          <a:p>
            <a:r>
              <a:rPr lang="en-IN" sz="2800" dirty="0"/>
              <a:t>Highly feasible using scalable cloud infrastructure (Next.js + </a:t>
            </a:r>
            <a:r>
              <a:rPr lang="en-IN" sz="2800" dirty="0" err="1"/>
              <a:t>MongoDB</a:t>
            </a:r>
            <a:r>
              <a:rPr lang="en-IN" sz="2800" dirty="0"/>
              <a:t>) and ready AI APIs instead of training models from scratch.</a:t>
            </a:r>
          </a:p>
          <a:p>
            <a:r>
              <a:rPr lang="en-IN" sz="2800" b="1" dirty="0"/>
              <a:t>Key Risks</a:t>
            </a:r>
          </a:p>
          <a:p>
            <a:r>
              <a:rPr lang="en-IN" sz="2800" dirty="0"/>
              <a:t>AI false positives/negatives</a:t>
            </a:r>
          </a:p>
          <a:p>
            <a:r>
              <a:rPr lang="en-IN" sz="2800" dirty="0"/>
              <a:t>API latency from external AI calls</a:t>
            </a:r>
          </a:p>
          <a:p>
            <a:r>
              <a:rPr lang="en-IN" sz="2800" b="1" dirty="0"/>
              <a:t>Mitigation</a:t>
            </a:r>
          </a:p>
          <a:p>
            <a:r>
              <a:rPr lang="en-IN" sz="2800" dirty="0"/>
              <a:t>Admin Visual Rule Engine (manual override)</a:t>
            </a:r>
          </a:p>
          <a:p>
            <a:r>
              <a:rPr lang="en-IN" sz="2800" dirty="0"/>
              <a:t>URL caching for faster repeat scans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8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7" y="81380"/>
            <a:ext cx="1095495" cy="10289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pic>
        <p:nvPicPr>
          <p:cNvPr id="13" name="Picture 12" descr="EFusio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2405" y="203047"/>
            <a:ext cx="1194499" cy="101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59238" y="79310"/>
            <a:ext cx="7513169" cy="1143000"/>
          </a:xfrm>
        </p:spPr>
        <p:txBody>
          <a:bodyPr/>
          <a:lstStyle/>
          <a:p>
            <a:pPr eaLnBrk="1" hangingPunct="1"/>
            <a:r>
              <a:rPr lang="en-US" sz="3600" b="1" dirty="0" smtClean="0"/>
              <a:t>CHALLENGES &amp; RISKS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8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7" y="81380"/>
            <a:ext cx="1095495" cy="10289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pic>
        <p:nvPicPr>
          <p:cNvPr id="13" name="Picture 12" descr="EFusio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2405" y="203047"/>
            <a:ext cx="1194499" cy="101926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900545" y="1285729"/>
            <a:ext cx="9085283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 smtClean="0"/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Evasion Techniques</a:t>
            </a:r>
            <a:r>
              <a:rPr lang="en-US" sz="2400" dirty="0"/>
              <a:t>: Hackers constantly evolve their obfuscation techniques to bypass NLP and AI scanners.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Processing Overhead: </a:t>
            </a:r>
            <a:r>
              <a:rPr lang="en-US" sz="2400" dirty="0"/>
              <a:t>Evaluating complex payloads via a Python </a:t>
            </a:r>
            <a:r>
              <a:rPr lang="en-US" sz="2400" dirty="0" err="1"/>
              <a:t>FastAPI</a:t>
            </a:r>
            <a:r>
              <a:rPr lang="en-US" sz="2400" dirty="0"/>
              <a:t> </a:t>
            </a:r>
            <a:r>
              <a:rPr lang="en-US" sz="2400" dirty="0" err="1"/>
              <a:t>microservice</a:t>
            </a:r>
            <a:r>
              <a:rPr lang="en-US" sz="2400" dirty="0"/>
              <a:t> can be resource-intensive under heavy traffic.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Data Privacy: </a:t>
            </a:r>
            <a:r>
              <a:rPr lang="en-US" sz="2400" dirty="0"/>
              <a:t>Ensuring the text and URLs users submit for scanning do not leak sensitive personal data to third-party AI providers.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249007" y="-47625"/>
            <a:ext cx="8745895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72387" y="1522672"/>
            <a:ext cx="10194519" cy="4832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2800" b="1" dirty="0"/>
              <a:t>Potential impact on the target audience:</a:t>
            </a:r>
            <a:r>
              <a:rPr lang="en-US" sz="2800" dirty="0"/>
              <a:t> Drastically lowers the success rate of social engineering and phishing attacks by acting as a proactive shield rather than a reactive antivirus.</a:t>
            </a:r>
          </a:p>
          <a:p>
            <a:pPr marL="457200" indent="-457200">
              <a:buFont typeface="Wingdings" pitchFamily="2" charset="2"/>
              <a:buChar char="q"/>
            </a:pPr>
            <a:r>
              <a:rPr lang="en-US" sz="2800" b="1" dirty="0"/>
              <a:t>Benefits of the solution:</a:t>
            </a:r>
            <a:endParaRPr lang="en-US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Social:</a:t>
            </a:r>
            <a:r>
              <a:rPr lang="en-US" sz="2800" dirty="0"/>
              <a:t> Protects non-technical, vulnerable users from scams and identity theft.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Economic:</a:t>
            </a:r>
            <a:r>
              <a:rPr lang="en-US" sz="2800" dirty="0"/>
              <a:t> Saves corporations millions by preventing data breaches originating from employee endpoints.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Educational:</a:t>
            </a:r>
            <a:r>
              <a:rPr lang="en-US" sz="2800" dirty="0"/>
              <a:t> Provides readable explanations for </a:t>
            </a:r>
            <a:r>
              <a:rPr lang="en-US" sz="2800" i="1" dirty="0"/>
              <a:t>why</a:t>
            </a:r>
            <a:r>
              <a:rPr lang="en-US" sz="2800" dirty="0"/>
              <a:t> a link is dangerous, educating users on </a:t>
            </a:r>
            <a:r>
              <a:rPr lang="en-US" sz="2800" dirty="0" err="1"/>
              <a:t>cybersecurity</a:t>
            </a:r>
            <a:r>
              <a:rPr lang="en-US" sz="2800" dirty="0"/>
              <a:t> in real-time.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8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7" y="81380"/>
            <a:ext cx="1095495" cy="10289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pic>
        <p:nvPicPr>
          <p:cNvPr id="13" name="Picture 12" descr="EFusio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2405" y="203047"/>
            <a:ext cx="1194499" cy="101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249007" y="-47625"/>
            <a:ext cx="8745895" cy="1143000"/>
          </a:xfrm>
        </p:spPr>
        <p:txBody>
          <a:bodyPr/>
          <a:lstStyle/>
          <a:p>
            <a:pPr eaLnBrk="1" hangingPunct="1"/>
            <a:r>
              <a:rPr lang="en-US" sz="3600" b="1" dirty="0" smtClean="0"/>
              <a:t>TARGET USERS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72005" y="1205598"/>
            <a:ext cx="11210395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q"/>
            </a:pPr>
            <a:r>
              <a:rPr lang="en-US" sz="2800" b="1" dirty="0"/>
              <a:t>TARGET </a:t>
            </a:r>
            <a:r>
              <a:rPr lang="en-US" sz="2800" b="1" dirty="0" smtClean="0"/>
              <a:t>USERS-FOR ALL</a:t>
            </a:r>
          </a:p>
          <a:p>
            <a:r>
              <a:rPr lang="en-US" sz="2800" b="1" dirty="0" smtClean="0"/>
              <a:t>EXAMPLE:-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Corporate Employees:</a:t>
            </a:r>
            <a:r>
              <a:rPr lang="en-US" sz="2800" dirty="0"/>
              <a:t> Examining links in suspicious emails before clicking.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Everyday Citizens:</a:t>
            </a:r>
            <a:r>
              <a:rPr lang="en-US" sz="2800" dirty="0"/>
              <a:t> Scanning QR codes in public places (e.g., parking meters, restaurant menus) to ensure they aren't fraudulent.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Security Operations Center (SOC) Analysts / IT Admins:</a:t>
            </a:r>
            <a:r>
              <a:rPr lang="en-US" sz="2800" dirty="0"/>
              <a:t> Using the Command Center to monitor network-wide threat telemetry and set automated blocking rules.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Educational Institutions:</a:t>
            </a:r>
            <a:r>
              <a:rPr lang="en-US" sz="2800" dirty="0"/>
              <a:t> Protecting students from campus-targeted phishing campaigns.</a:t>
            </a:r>
          </a:p>
          <a:p>
            <a:endParaRPr lang="en-US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8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7" y="81380"/>
            <a:ext cx="1095495" cy="10289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pic>
        <p:nvPicPr>
          <p:cNvPr id="13" name="Picture 12" descr="EFusio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2405" y="203047"/>
            <a:ext cx="1194499" cy="101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249007" y="-47625"/>
            <a:ext cx="8745895" cy="1143000"/>
          </a:xfrm>
        </p:spPr>
        <p:txBody>
          <a:bodyPr/>
          <a:lstStyle/>
          <a:p>
            <a:pPr eaLnBrk="1" hangingPunct="1"/>
            <a:r>
              <a:rPr lang="en-US" sz="3600" b="1" dirty="0" smtClean="0"/>
              <a:t>FUTURE SCOPE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8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7" y="81380"/>
            <a:ext cx="1095495" cy="10289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pic>
        <p:nvPicPr>
          <p:cNvPr id="13" name="Picture 12" descr="EFusio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2405" y="203047"/>
            <a:ext cx="1194499" cy="101926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065687" y="1339522"/>
            <a:ext cx="930121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Browser Extension: </a:t>
            </a:r>
            <a:r>
              <a:rPr lang="en-US" sz="2800" dirty="0"/>
              <a:t>Build a Chrome/Edge extension to auto-scan web pages and links seamlessly in the background.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Mobile App Integration: </a:t>
            </a:r>
            <a:r>
              <a:rPr lang="en-US" sz="2800" dirty="0"/>
              <a:t>Develop a React Native wrapper to provide native QR scanning directly from smartphones.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Federated Threat Sharing: </a:t>
            </a:r>
            <a:r>
              <a:rPr lang="en-US" sz="2800" dirty="0"/>
              <a:t>Allow different organizations using </a:t>
            </a:r>
            <a:r>
              <a:rPr lang="en-US" sz="2800" dirty="0" err="1"/>
              <a:t>SentinelShield</a:t>
            </a:r>
            <a:r>
              <a:rPr lang="en-US" sz="2800" dirty="0"/>
              <a:t> to anonymously share zero-day threat data to protect the global network faster.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249007" y="-47625"/>
            <a:ext cx="8745895" cy="1143000"/>
          </a:xfrm>
        </p:spPr>
        <p:txBody>
          <a:bodyPr/>
          <a:lstStyle/>
          <a:p>
            <a:pPr eaLnBrk="1" hangingPunct="1"/>
            <a:r>
              <a:rPr lang="en-US" sz="3600" b="1" dirty="0" smtClean="0"/>
              <a:t>BUSINESS MODEL / PROFIT STRATEGY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84355" y="1121357"/>
            <a:ext cx="9385300" cy="5693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 smtClean="0"/>
              <a:t>B2C </a:t>
            </a:r>
            <a:r>
              <a:rPr lang="en-US" sz="2800" b="1" dirty="0"/>
              <a:t>Freemium Model:</a:t>
            </a:r>
            <a:r>
              <a:rPr lang="en-US" sz="2800" dirty="0"/>
              <a:t> Basic URL analysis and standard QR scanning are free for everyday users. Advanced AI deep-scans and PDF report generation require a premium subscription.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B2B SaaS Licensing (Enterprise):</a:t>
            </a:r>
            <a:r>
              <a:rPr lang="en-US" sz="2800" dirty="0"/>
              <a:t> Tiered subscription models for businesses. Provides access to the Admin Threat Intelligence Command Center, custom visual rule creation, and API integration for their existing SOC.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API as a Service:</a:t>
            </a:r>
            <a:r>
              <a:rPr lang="en-US" sz="2800" dirty="0"/>
              <a:t> Charge volume-based pricing to other application developers who want to integrate the </a:t>
            </a:r>
            <a:r>
              <a:rPr lang="en-US" sz="2800" dirty="0" err="1"/>
              <a:t>SentinelShield</a:t>
            </a:r>
            <a:r>
              <a:rPr lang="en-US" sz="2800" dirty="0"/>
              <a:t> AI threat detection endpoint into their own apps.</a:t>
            </a:r>
          </a:p>
          <a:p>
            <a:endParaRPr lang="en-US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8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7" y="81380"/>
            <a:ext cx="1095495" cy="10289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pic>
        <p:nvPicPr>
          <p:cNvPr id="13" name="Picture 12" descr="EFusio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2405" y="203047"/>
            <a:ext cx="1194499" cy="101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325938" y="-69396"/>
            <a:ext cx="7299649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10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7" y="81380"/>
            <a:ext cx="1095495" cy="10289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pic>
        <p:nvPicPr>
          <p:cNvPr id="13" name="Picture 12" descr="EFusio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2405" y="203047"/>
            <a:ext cx="1194499" cy="101926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40230" y="1062202"/>
            <a:ext cx="10842172" cy="535531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b="1" dirty="0" smtClean="0"/>
              <a:t>Global </a:t>
            </a:r>
            <a:r>
              <a:rPr lang="en-US" b="1" dirty="0"/>
              <a:t>Rise of Phishing &amp; Cybercrime</a:t>
            </a:r>
          </a:p>
          <a:p>
            <a:r>
              <a:rPr lang="en-US" dirty="0"/>
              <a:t>Phishing and malicious URL attacks are increasing exponentially, especially through QR codes and zero-day </a:t>
            </a:r>
            <a:r>
              <a:rPr lang="en-US" dirty="0" smtClean="0"/>
              <a:t>domains.</a:t>
            </a:r>
            <a:endParaRPr lang="en-US" dirty="0"/>
          </a:p>
          <a:p>
            <a:r>
              <a:rPr lang="en-US" dirty="0"/>
              <a:t>The Federal Bureau of Investigation Internet Crime Report shows billions of dollars lost annually due to phishing and online fraud.</a:t>
            </a:r>
          </a:p>
          <a:p>
            <a:r>
              <a:rPr lang="en-US" dirty="0"/>
              <a:t>Interpol reports highlight global surges in QR-based phishing and business email compromise.</a:t>
            </a:r>
          </a:p>
          <a:p>
            <a:r>
              <a:rPr lang="en-US" dirty="0"/>
              <a:t>Verizon Data Breach Investigations Report (DBIR) consistently identifies phishing as the leading initial attack </a:t>
            </a:r>
            <a:r>
              <a:rPr lang="en-US" dirty="0" smtClean="0"/>
              <a:t>vector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IN" b="1" dirty="0" smtClean="0"/>
              <a:t> </a:t>
            </a:r>
            <a:r>
              <a:rPr lang="en-IN" b="1" dirty="0"/>
              <a:t>FORMAL REFERENCE </a:t>
            </a:r>
            <a:r>
              <a:rPr lang="en-IN" b="1" dirty="0" smtClean="0"/>
              <a:t>LIST</a:t>
            </a:r>
            <a:endParaRPr lang="en-IN" dirty="0"/>
          </a:p>
          <a:p>
            <a:r>
              <a:rPr lang="en-IN" dirty="0"/>
              <a:t>Federal Bureau of Investigation. (Latest). </a:t>
            </a:r>
            <a:r>
              <a:rPr lang="en-IN" i="1" dirty="0"/>
              <a:t>Internet Crime Report</a:t>
            </a:r>
            <a:r>
              <a:rPr lang="en-IN" dirty="0"/>
              <a:t>.</a:t>
            </a:r>
          </a:p>
          <a:p>
            <a:r>
              <a:rPr lang="en-IN" dirty="0"/>
              <a:t>Verizon. </a:t>
            </a:r>
            <a:r>
              <a:rPr lang="en-IN" i="1" dirty="0"/>
              <a:t>Data Breach Investigations Report (DBIR)</a:t>
            </a:r>
            <a:r>
              <a:rPr lang="en-IN" dirty="0"/>
              <a:t>.</a:t>
            </a:r>
          </a:p>
          <a:p>
            <a:r>
              <a:rPr lang="en-IN" dirty="0"/>
              <a:t>NIST. </a:t>
            </a:r>
            <a:r>
              <a:rPr lang="en-IN" i="1" dirty="0" err="1"/>
              <a:t>Cybersecurity</a:t>
            </a:r>
            <a:r>
              <a:rPr lang="en-IN" i="1" dirty="0"/>
              <a:t> Framework (CSF 2.0)</a:t>
            </a:r>
            <a:r>
              <a:rPr lang="en-IN" dirty="0"/>
              <a:t> &amp; </a:t>
            </a:r>
            <a:r>
              <a:rPr lang="en-IN" i="1" dirty="0"/>
              <a:t>AI Risk Management Framework (AI RMF 1.0)</a:t>
            </a:r>
            <a:r>
              <a:rPr lang="en-IN" dirty="0"/>
              <a:t>.</a:t>
            </a:r>
          </a:p>
          <a:p>
            <a:r>
              <a:rPr lang="en-IN" dirty="0"/>
              <a:t>NATO. (2021). </a:t>
            </a:r>
            <a:r>
              <a:rPr lang="en-IN" i="1" dirty="0"/>
              <a:t>NATO Artificial Intelligence Strategy</a:t>
            </a:r>
            <a:r>
              <a:rPr lang="en-IN" dirty="0"/>
              <a:t>.</a:t>
            </a:r>
          </a:p>
          <a:p>
            <a:r>
              <a:rPr lang="en-IN" dirty="0"/>
              <a:t>DARPA. </a:t>
            </a:r>
            <a:r>
              <a:rPr lang="en-IN" i="1" dirty="0"/>
              <a:t>Explainable AI (XAI) Program</a:t>
            </a:r>
            <a:r>
              <a:rPr lang="en-IN" dirty="0"/>
              <a:t>.</a:t>
            </a:r>
          </a:p>
          <a:p>
            <a:r>
              <a:rPr lang="en-IN" dirty="0"/>
              <a:t>General Data Protection Regulation. (2018).</a:t>
            </a:r>
          </a:p>
          <a:p>
            <a:r>
              <a:rPr lang="en-IN" dirty="0"/>
              <a:t>Federal Trade Commission. Consumer Alerts on QR Code Scams.</a:t>
            </a:r>
          </a:p>
          <a:p>
            <a:r>
              <a:rPr lang="en-IN" dirty="0"/>
              <a:t>Europol. Internet Organised Crime Threat Assessment (IOCTA).</a:t>
            </a:r>
          </a:p>
          <a:p>
            <a:r>
              <a:rPr lang="en-IN" dirty="0"/>
              <a:t>IEEE </a:t>
            </a:r>
            <a:r>
              <a:rPr lang="en-IN" dirty="0" err="1"/>
              <a:t>Xplore</a:t>
            </a:r>
            <a:r>
              <a:rPr lang="en-IN" dirty="0"/>
              <a:t> Digital Library — Research on NLP-based phishing detection.</a:t>
            </a:r>
          </a:p>
          <a:p>
            <a:r>
              <a:rPr lang="en-IN" dirty="0"/>
              <a:t>ACM Digital Library — Web anomaly detection studies.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7744</TotalTime>
  <Words>711</Words>
  <Application>Microsoft Office PowerPoint</Application>
  <PresentationFormat>Custom</PresentationFormat>
  <Paragraphs>118</Paragraphs>
  <Slides>11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ARTEMIS HACKATHON 2026</vt:lpstr>
      <vt:lpstr>PROBLEM STATEMENT</vt:lpstr>
      <vt:lpstr>PROPOSED SOLUTION  (YOUR IDEA)</vt:lpstr>
      <vt:lpstr>TECHNICAL APPROACH</vt:lpstr>
      <vt:lpstr>FEASIBILITY AND VIABILITY</vt:lpstr>
      <vt:lpstr>CHALLENGES &amp; RISKS</vt:lpstr>
      <vt:lpstr>IMPACT AND BENEFITS</vt:lpstr>
      <vt:lpstr>TARGET USERS</vt:lpstr>
      <vt:lpstr>FUTURE SCOPE</vt:lpstr>
      <vt:lpstr>BUSINESS MODEL / PROFIT STRATEGY</vt:lpstr>
      <vt:lpstr>RESEARCH  AND REFERENCES</vt:lpstr>
    </vt:vector>
  </TitlesOfParts>
  <Company>Crowdfunder, Inc.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SAKTIROUT</cp:lastModifiedBy>
  <cp:revision>170</cp:revision>
  <dcterms:created xsi:type="dcterms:W3CDTF">2013-12-12T18:46:50Z</dcterms:created>
  <dcterms:modified xsi:type="dcterms:W3CDTF">2026-02-25T06:41:26Z</dcterms:modified>
</cp:coreProperties>
</file>